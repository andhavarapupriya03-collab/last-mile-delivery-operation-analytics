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3D1F9D-8624-433A-988F-25F1A1F59D4D}" v="24" dt="2026-09-15T16:45:13.0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mini vangapandu" userId="1b78eb8dc4f53263" providerId="LiveId" clId="{D069CFBC-72AD-42AB-A14C-7A0002B79B7D}"/>
    <pc:docChg chg="modSld">
      <pc:chgData name="yamini vangapandu" userId="1b78eb8dc4f53263" providerId="LiveId" clId="{D069CFBC-72AD-42AB-A14C-7A0002B79B7D}" dt="2026-09-15T16:51:52.070" v="6" actId="14100"/>
      <pc:docMkLst>
        <pc:docMk/>
      </pc:docMkLst>
      <pc:sldChg chg="modSp mod">
        <pc:chgData name="yamini vangapandu" userId="1b78eb8dc4f53263" providerId="LiveId" clId="{D069CFBC-72AD-42AB-A14C-7A0002B79B7D}" dt="2026-09-15T16:51:52.070" v="6" actId="14100"/>
        <pc:sldMkLst>
          <pc:docMk/>
          <pc:sldMk cId="407024052" sldId="256"/>
        </pc:sldMkLst>
        <pc:spChg chg="mod">
          <ac:chgData name="yamini vangapandu" userId="1b78eb8dc4f53263" providerId="LiveId" clId="{D069CFBC-72AD-42AB-A14C-7A0002B79B7D}" dt="2026-09-15T16:51:52.070" v="6" actId="14100"/>
          <ac:spMkLst>
            <pc:docMk/>
            <pc:sldMk cId="407024052" sldId="256"/>
            <ac:spMk id="5" creationId="{12E8F16F-865A-C07B-6710-B58991942579}"/>
          </ac:spMkLst>
        </pc:spChg>
        <pc:spChg chg="mod">
          <ac:chgData name="yamini vangapandu" userId="1b78eb8dc4f53263" providerId="LiveId" clId="{D069CFBC-72AD-42AB-A14C-7A0002B79B7D}" dt="2026-09-15T16:51:11.030" v="2" actId="1076"/>
          <ac:spMkLst>
            <pc:docMk/>
            <pc:sldMk cId="407024052" sldId="256"/>
            <ac:spMk id="6" creationId="{4DE3F219-ED6F-3D9F-E353-AF444F61C147}"/>
          </ac:spMkLst>
        </pc:spChg>
        <pc:spChg chg="mod">
          <ac:chgData name="yamini vangapandu" userId="1b78eb8dc4f53263" providerId="LiveId" clId="{D069CFBC-72AD-42AB-A14C-7A0002B79B7D}" dt="2026-09-15T16:50:59.045" v="1" actId="1076"/>
          <ac:spMkLst>
            <pc:docMk/>
            <pc:sldMk cId="407024052" sldId="256"/>
            <ac:spMk id="9" creationId="{DB91D21D-508D-504B-4E99-5E31AACEAA87}"/>
          </ac:spMkLst>
        </pc:spChg>
        <pc:spChg chg="mod">
          <ac:chgData name="yamini vangapandu" userId="1b78eb8dc4f53263" providerId="LiveId" clId="{D069CFBC-72AD-42AB-A14C-7A0002B79B7D}" dt="2026-09-15T16:50:41.272" v="0" actId="1076"/>
          <ac:spMkLst>
            <pc:docMk/>
            <pc:sldMk cId="407024052" sldId="256"/>
            <ac:spMk id="12" creationId="{3ABF5422-7502-5E1B-03D1-77BDCFC8B155}"/>
          </ac:spMkLst>
        </pc:spChg>
        <pc:picChg chg="mod">
          <ac:chgData name="yamini vangapandu" userId="1b78eb8dc4f53263" providerId="LiveId" clId="{D069CFBC-72AD-42AB-A14C-7A0002B79B7D}" dt="2026-09-15T16:51:22.065" v="3" actId="1076"/>
          <ac:picMkLst>
            <pc:docMk/>
            <pc:sldMk cId="407024052" sldId="256"/>
            <ac:picMk id="4" creationId="{3D5FF2EA-8E16-695F-50C3-235FCB0478F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F4885-A41F-C75F-72B4-B18B42EF11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1544D6-4E26-D364-F5ED-A35D676EF5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1D90A-90C0-39AD-D33E-F190279A6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65536-88E7-4F1E-9208-1538983E3455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FD607-A243-173C-832C-C7B0A43E1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037EF-4AE9-69DE-CC72-83243ABEE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BB687-20B1-4208-9A98-7830F46D0D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413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2217E-D86A-9902-E78E-479291822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06242-370F-1C67-E3D8-B80EE4BA0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2D90A-7AD9-99B1-21A6-5E9835387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65536-88E7-4F1E-9208-1538983E3455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10883-F281-C76E-6618-A926C7677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CCBE8-6860-D45E-CB7A-026F033DD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BB687-20B1-4208-9A98-7830F46D0D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073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8B6DA-261A-3431-51A0-F46CC28AE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2FCD8F-AEB6-D41A-2DB3-7ADE83CB2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A24C6-C8B3-8643-0CB9-2B9D85093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65536-88E7-4F1E-9208-1538983E3455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FA320-391D-1745-E8DD-1E99CE358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2CFC1-5B31-B678-700F-D4AE5F737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BB687-20B1-4208-9A98-7830F46D0D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6915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5F27A-424A-0640-B48A-9C5AD7223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FD53D-AADC-53B0-F85D-104636F31B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FE970C-B869-76DD-E383-8DE2EFADF0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134B9B-2DF7-EC33-69AB-8D7BE6202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65536-88E7-4F1E-9208-1538983E3455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D42A76-1A56-9635-7043-7EB77A24B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3AAB38-F16B-C46C-9494-A330F036A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BB687-20B1-4208-9A98-7830F46D0D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2233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BA41D-6BF3-BC62-2311-00134AD5A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053E1D-E085-5D04-5E1F-83AE42A08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DF1DFF-AD77-3F8F-7521-1D34FD9CE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58AA42-808B-1CB9-081C-D27ED60288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CE95A1-5B87-7ED0-27A8-5F48CEFAEF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DF9757-AE2A-4850-1BB4-D3FA5DC52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65536-88E7-4F1E-9208-1538983E3455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D85F1-B240-3311-F3BD-CB84DA384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B47518-DAAE-4721-4F61-3E30BE5E7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BB687-20B1-4208-9A98-7830F46D0D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7183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879EA-DC58-C1BB-D000-25A5EA9EC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D8DE4C-F2A6-80F5-F6AF-7FE8C0957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65536-88E7-4F1E-9208-1538983E3455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D55455-9360-8CAD-ED4A-EC90C8027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FFCB84-9127-351A-BB6D-8F3CFD7E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BB687-20B1-4208-9A98-7830F46D0D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078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C52318-1597-6304-ADB0-DF02564AB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65536-88E7-4F1E-9208-1538983E3455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6E23FE-A6F3-4F0F-A8B4-DED129E67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179F0-D26D-6466-D24F-D663D6F76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BB687-20B1-4208-9A98-7830F46D0D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207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40C86-75EC-D696-0C59-ED5B463AD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982A7-3D5D-176A-BF03-11841A6C4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E776AC-5A3D-DD4F-15D3-A9BA8248A3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F8B849-7B6A-B324-FCFE-79B307ED2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65536-88E7-4F1E-9208-1538983E3455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1263EB-EF4B-E892-ED7B-AAB50B835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5F759B-9735-083D-F3E8-42A502F59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BB687-20B1-4208-9A98-7830F46D0D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276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0C4AB-5F1C-A471-FE86-325B83290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B33A53-B964-76DE-9841-514EC3038D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15F461-5FC5-62F8-2B3A-997DE9E79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426691-A659-8037-9BAA-23BBCB5E7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65536-88E7-4F1E-9208-1538983E3455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BD9671-FA95-BF3D-71C7-3AD73EF7B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EEC0C4-A67E-9C20-CBA3-241B7F35F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BB687-20B1-4208-9A98-7830F46D0D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4356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AB429-78E1-74A4-8591-1ABD53C26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DFA317-7230-FB2F-E1A4-A154938BE6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7133B-25F8-D5DC-C022-585DF1EB3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65536-88E7-4F1E-9208-1538983E3455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1583C-3F50-717B-4854-452F9A8E0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99F85-B8BF-1668-50BB-3C3FD9C3D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BB687-20B1-4208-9A98-7830F46D0D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154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7D7DAD-8D3B-BC6C-AA06-BD55CCB48D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3177C1-BE42-262D-034E-37D77B3DE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B5C73-F357-EDE1-6E99-71B7DE38C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65536-88E7-4F1E-9208-1538983E3455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91787-DE23-3205-EF95-15A729B0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1C55A-A5C0-A26E-1DEA-66615039A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BB687-20B1-4208-9A98-7830F46D0D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3627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AD9DE8-717C-2638-8739-853C6D3AF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2A29C-6767-84D2-FEDA-984863897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0C53D-5FF9-EFF8-58FB-5FB98F37F1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465536-88E7-4F1E-9208-1538983E3455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E196F-FFFC-AE1F-A7DF-13A2762EE2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61D4D-E8EF-B77F-99FE-E3270D56AE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EBB687-20B1-4208-9A98-7830F46D0D2F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4C4FAF-D717-0BA4-0874-4B449A9DE27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2673" y="6311899"/>
            <a:ext cx="2530764" cy="431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811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YAMINI\OneDrive\Documents\OneNote%20Notebooks" TargetMode="External"/><Relationship Id="rId2" Type="http://schemas.openxmlformats.org/officeDocument/2006/relationships/hyperlink" Target="https://www.linkedin.com/in/madhu-priya-b6744730a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CFE59-911C-370A-497C-90D36AF7D0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87D89A-5548-8648-7238-166F6F20DF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err="1"/>
              <a:t>hgdcf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5FF2EA-8E16-695F-50C3-235FCB0478F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317"/>
            <a:ext cx="12188190" cy="685768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2E8F16F-865A-C07B-6710-B58991942579}"/>
              </a:ext>
            </a:extLst>
          </p:cNvPr>
          <p:cNvSpPr/>
          <p:nvPr/>
        </p:nvSpPr>
        <p:spPr>
          <a:xfrm>
            <a:off x="275303" y="3741829"/>
            <a:ext cx="11759381" cy="68809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41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LAST</a:t>
            </a:r>
            <a:r>
              <a:rPr lang="en-IN" sz="4100" b="1" kern="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-</a:t>
            </a:r>
            <a:r>
              <a:rPr lang="en-IN" sz="41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MILE DELIVERY OPERATION ANALYTICS</a:t>
            </a:r>
            <a:endParaRPr lang="en-IN" sz="1100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E3F219-ED6F-3D9F-E353-AF444F61C147}"/>
              </a:ext>
            </a:extLst>
          </p:cNvPr>
          <p:cNvSpPr/>
          <p:nvPr/>
        </p:nvSpPr>
        <p:spPr>
          <a:xfrm>
            <a:off x="4132396" y="4448935"/>
            <a:ext cx="3742089" cy="4257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6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 DATABASE USING MYSQL</a:t>
            </a:r>
            <a:endParaRPr lang="en-IN" sz="1100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91D21D-508D-504B-4E99-5E31AACEAA87}"/>
              </a:ext>
            </a:extLst>
          </p:cNvPr>
          <p:cNvSpPr/>
          <p:nvPr/>
        </p:nvSpPr>
        <p:spPr>
          <a:xfrm>
            <a:off x="4381049" y="5110956"/>
            <a:ext cx="3244784" cy="62468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3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PRESENTED BY:</a:t>
            </a:r>
            <a:endParaRPr lang="en-IN" sz="1100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BF5422-7502-5E1B-03D1-77BDCFC8B155}"/>
              </a:ext>
            </a:extLst>
          </p:cNvPr>
          <p:cNvSpPr txBox="1"/>
          <p:nvPr/>
        </p:nvSpPr>
        <p:spPr>
          <a:xfrm>
            <a:off x="2653063" y="5825399"/>
            <a:ext cx="6882063" cy="770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300" kern="100" dirty="0"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ANDHAVARAPU </a:t>
            </a:r>
            <a:r>
              <a:rPr lang="en-IN" sz="4300" kern="100" dirty="0">
                <a:ea typeface="Calibri" panose="020F0502020204030204" pitchFamily="34" charset="0"/>
              </a:rPr>
              <a:t>MADHUPRIYA</a:t>
            </a:r>
            <a:endParaRPr lang="en-IN" sz="4300" dirty="0"/>
          </a:p>
        </p:txBody>
      </p:sp>
    </p:spTree>
    <p:extLst>
      <p:ext uri="{BB962C8B-B14F-4D97-AF65-F5344CB8AC3E}">
        <p14:creationId xmlns:p14="http://schemas.microsoft.com/office/powerpoint/2010/main" val="407024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7E0FC-7D8D-DF81-AA47-0D3DE967A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1052"/>
            <a:ext cx="9144000" cy="641684"/>
          </a:xfrm>
        </p:spPr>
        <p:txBody>
          <a:bodyPr>
            <a:noAutofit/>
          </a:bodyPr>
          <a:lstStyle/>
          <a:p>
            <a:r>
              <a:rPr lang="en-IN" sz="4400" b="1" dirty="0">
                <a:solidFill>
                  <a:srgbClr val="FF0000"/>
                </a:solidFill>
              </a:rPr>
              <a:t>ABOUT 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6A5B7B-262D-90DA-5021-A2351C1761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9179" y="1219200"/>
            <a:ext cx="11293641" cy="5237748"/>
          </a:xfrm>
        </p:spPr>
        <p:txBody>
          <a:bodyPr/>
          <a:lstStyle/>
          <a:p>
            <a:pPr algn="l"/>
            <a:r>
              <a:rPr lang="en-IN" sz="2700" dirty="0"/>
              <a:t>I’m </a:t>
            </a:r>
            <a:r>
              <a:rPr lang="en-IN" sz="2700" dirty="0" err="1"/>
              <a:t>A.Madhupriya,an</a:t>
            </a:r>
            <a:r>
              <a:rPr lang="en-IN" sz="2700" dirty="0"/>
              <a:t> aspiring Data Analyst with an interest in </a:t>
            </a:r>
            <a:r>
              <a:rPr lang="en-IN" sz="2700" dirty="0" err="1"/>
              <a:t>python,sql,data</a:t>
            </a:r>
            <a:r>
              <a:rPr lang="en-IN" sz="2700" dirty="0"/>
              <a:t> analysis.</a:t>
            </a:r>
          </a:p>
          <a:p>
            <a:pPr algn="l"/>
            <a:r>
              <a:rPr lang="en-IN" sz="2700" dirty="0"/>
              <a:t>I built a </a:t>
            </a:r>
            <a:r>
              <a:rPr lang="en-IN" sz="2700" b="1" dirty="0"/>
              <a:t>LAST-MILE DELIVERY OPERATION ANALYTICS</a:t>
            </a:r>
            <a:r>
              <a:rPr lang="en-IN" sz="2700" dirty="0"/>
              <a:t> project using MySQL to </a:t>
            </a:r>
            <a:r>
              <a:rPr lang="en-IN" sz="2700" dirty="0" err="1"/>
              <a:t>analyze</a:t>
            </a:r>
            <a:r>
              <a:rPr lang="en-IN" sz="2700" dirty="0"/>
              <a:t> delivery operational data and generate meaningful insights.</a:t>
            </a:r>
          </a:p>
          <a:p>
            <a:pPr algn="l"/>
            <a:endParaRPr lang="en-IN" sz="2700" dirty="0"/>
          </a:p>
          <a:p>
            <a:pPr algn="l"/>
            <a:r>
              <a:rPr lang="en-IN" sz="2600" b="1" dirty="0"/>
              <a:t>Work Experience : </a:t>
            </a:r>
            <a:r>
              <a:rPr lang="en-IN" sz="2600" dirty="0"/>
              <a:t>Fresher</a:t>
            </a:r>
          </a:p>
          <a:p>
            <a:pPr algn="l"/>
            <a:endParaRPr lang="en-IN" dirty="0"/>
          </a:p>
          <a:p>
            <a:pPr algn="l"/>
            <a:r>
              <a:rPr lang="en-IN" sz="2600" b="1" dirty="0"/>
              <a:t>LINKEDIN :</a:t>
            </a:r>
            <a:r>
              <a:rPr lang="en-IN" sz="2600" b="1" dirty="0">
                <a:hlinkClick r:id="rId2"/>
              </a:rPr>
              <a:t>https://www.linkedin.com/in/madhupriya-andhavarapu-8a5386421</a:t>
            </a:r>
            <a:endParaRPr lang="en-IN" sz="2600" dirty="0"/>
          </a:p>
          <a:p>
            <a:pPr algn="l"/>
            <a:endParaRPr lang="en-IN" sz="2600" dirty="0"/>
          </a:p>
          <a:p>
            <a:pPr algn="l"/>
            <a:r>
              <a:rPr lang="en-IN" sz="2600" b="1" dirty="0"/>
              <a:t>GITHUB</a:t>
            </a:r>
            <a:r>
              <a:rPr lang="en-IN" sz="2600" b="1" dirty="0">
                <a:hlinkClick r:id="rId3" action="ppaction://hlinkfile"/>
              </a:rPr>
              <a:t>: https://github.com/andhavarapupriya03</a:t>
            </a:r>
            <a:endParaRPr lang="en-IN" sz="2600" dirty="0"/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370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341E7-910F-34D8-3CB7-639219F6F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+mn-lt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8E49F-DCEF-6521-7C0D-A0C8A67F1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263" y="1472698"/>
            <a:ext cx="11197389" cy="4879975"/>
          </a:xfrm>
        </p:spPr>
        <p:txBody>
          <a:bodyPr>
            <a:normAutofit fontScale="92500" lnSpcReduction="10000"/>
          </a:bodyPr>
          <a:lstStyle/>
          <a:p>
            <a:pPr lvl="0" fontAlgn="base">
              <a:lnSpc>
                <a:spcPct val="150000"/>
              </a:lnSpc>
            </a:pPr>
            <a:r>
              <a:rPr lang="en-IN" dirty="0"/>
              <a:t>Project Overview</a:t>
            </a:r>
          </a:p>
          <a:p>
            <a:pPr lvl="0" fontAlgn="base">
              <a:lnSpc>
                <a:spcPct val="150000"/>
              </a:lnSpc>
            </a:pPr>
            <a:r>
              <a:rPr lang="en-IN" dirty="0"/>
              <a:t>Project Objective</a:t>
            </a:r>
          </a:p>
          <a:p>
            <a:pPr lvl="0" fontAlgn="base">
              <a:lnSpc>
                <a:spcPct val="150000"/>
              </a:lnSpc>
            </a:pPr>
            <a:r>
              <a:rPr lang="en-IN" dirty="0"/>
              <a:t>ER Diagram &amp; Database structure</a:t>
            </a:r>
          </a:p>
          <a:p>
            <a:pPr lvl="0" fontAlgn="base">
              <a:lnSpc>
                <a:spcPct val="150000"/>
              </a:lnSpc>
            </a:pPr>
            <a:r>
              <a:rPr lang="en-IN" dirty="0"/>
              <a:t>SQL Analysis &amp; Business Questions</a:t>
            </a:r>
          </a:p>
          <a:p>
            <a:pPr lvl="0" fontAlgn="base">
              <a:lnSpc>
                <a:spcPct val="150000"/>
              </a:lnSpc>
            </a:pPr>
            <a:r>
              <a:rPr lang="en-IN" dirty="0"/>
              <a:t>Key Insights &amp; Findings</a:t>
            </a:r>
          </a:p>
          <a:p>
            <a:pPr lvl="0" fontAlgn="base">
              <a:lnSpc>
                <a:spcPct val="150000"/>
              </a:lnSpc>
            </a:pPr>
            <a:r>
              <a:rPr lang="en-IN" dirty="0"/>
              <a:t>Challenges Faced in the Project</a:t>
            </a:r>
          </a:p>
          <a:p>
            <a:pPr lvl="0" fontAlgn="base">
              <a:lnSpc>
                <a:spcPct val="150000"/>
              </a:lnSpc>
            </a:pPr>
            <a:r>
              <a:rPr lang="en-IN" dirty="0"/>
              <a:t>Conclusion &amp; Recommendations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619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D51D8-261D-77C8-84EA-D7BA1028D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117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  <a:latin typeface="+mn-lt"/>
              </a:rPr>
              <a:t>Project Overview: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E0F02-F5B0-5330-2900-FB7BBD463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726" y="1106906"/>
            <a:ext cx="11165306" cy="5385970"/>
          </a:xfrm>
        </p:spPr>
        <p:txBody>
          <a:bodyPr>
            <a:normAutofit fontScale="92500" lnSpcReduction="10000"/>
          </a:bodyPr>
          <a:lstStyle/>
          <a:p>
            <a:pPr lvl="0" fontAlgn="base">
              <a:lnSpc>
                <a:spcPct val="150000"/>
              </a:lnSpc>
            </a:pPr>
            <a:r>
              <a:rPr lang="en-IN" sz="2050" dirty="0"/>
              <a:t>This project focuses on studying last-mile delivery operations using MySQL</a:t>
            </a:r>
          </a:p>
          <a:p>
            <a:pPr lvl="0" fontAlgn="base">
              <a:lnSpc>
                <a:spcPct val="150000"/>
              </a:lnSpc>
            </a:pPr>
            <a:r>
              <a:rPr lang="en-IN" sz="2050" dirty="0"/>
              <a:t>It uses SQL to manage and </a:t>
            </a:r>
            <a:r>
              <a:rPr lang="en-IN" sz="2050" dirty="0" err="1"/>
              <a:t>analyze</a:t>
            </a:r>
            <a:r>
              <a:rPr lang="en-IN" sz="2050" dirty="0"/>
              <a:t> </a:t>
            </a:r>
            <a:r>
              <a:rPr lang="en-IN" sz="2050" dirty="0" err="1"/>
              <a:t>customers,orders,deliveries,drivers,and</a:t>
            </a:r>
            <a:r>
              <a:rPr lang="en-IN" sz="2050" dirty="0"/>
              <a:t> vehicles.</a:t>
            </a:r>
          </a:p>
          <a:p>
            <a:pPr lvl="0" fontAlgn="base">
              <a:lnSpc>
                <a:spcPct val="150000"/>
              </a:lnSpc>
            </a:pPr>
            <a:r>
              <a:rPr lang="en-IN" sz="2050" dirty="0"/>
              <a:t>It helps the operations team </a:t>
            </a:r>
            <a:r>
              <a:rPr lang="en-IN" sz="2050" dirty="0" err="1"/>
              <a:t>analyze</a:t>
            </a:r>
            <a:r>
              <a:rPr lang="en-IN" sz="2050" dirty="0"/>
              <a:t> delivery demand, customer ordering behaviour, delivery performance and resource utilization.</a:t>
            </a:r>
          </a:p>
          <a:p>
            <a:pPr lvl="0" fontAlgn="base">
              <a:lnSpc>
                <a:spcPct val="150000"/>
              </a:lnSpc>
            </a:pPr>
            <a:r>
              <a:rPr lang="en-IN" sz="2050" dirty="0"/>
              <a:t>It evaluates delivery zones, service types, priorities, delivery duration, delivery status, and order values to understand operational performance.</a:t>
            </a:r>
          </a:p>
          <a:p>
            <a:pPr lvl="0" fontAlgn="base">
              <a:lnSpc>
                <a:spcPct val="150000"/>
              </a:lnSpc>
            </a:pPr>
            <a:r>
              <a:rPr lang="en-IN" sz="2050" dirty="0"/>
              <a:t>It </a:t>
            </a:r>
            <a:r>
              <a:rPr lang="en-IN" sz="2050" dirty="0" err="1"/>
              <a:t>analyzes</a:t>
            </a:r>
            <a:r>
              <a:rPr lang="en-IN" sz="2050" dirty="0"/>
              <a:t>  driver performance and vehicle usage to understand how delivery resources are being used.</a:t>
            </a:r>
          </a:p>
          <a:p>
            <a:pPr lvl="0" fontAlgn="base">
              <a:lnSpc>
                <a:spcPct val="150000"/>
              </a:lnSpc>
            </a:pPr>
            <a:r>
              <a:rPr lang="en-IN" sz="2050" dirty="0"/>
              <a:t>It identifies delivery problems, including multiple delivery attempts, common delivery statuses, and zones with higher delivery problems.</a:t>
            </a:r>
          </a:p>
          <a:p>
            <a:pPr lvl="0" fontAlgn="base">
              <a:lnSpc>
                <a:spcPct val="150000"/>
              </a:lnSpc>
            </a:pPr>
            <a:r>
              <a:rPr lang="en-IN" sz="2050" dirty="0"/>
              <a:t>The analysis produces findings, business insights, conclusions, and recommendations to support operational decision-making.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4891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F96D7-CD7E-87EF-0AB5-DD9829482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6580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  <a:latin typeface="+mn-lt"/>
              </a:rPr>
              <a:t>Project Objective: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A280F-FDB8-9418-05E3-7D3A9CCCD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1707"/>
            <a:ext cx="10515600" cy="508116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50" dirty="0"/>
              <a:t>To understand the last-mile delivery business and its operations.</a:t>
            </a:r>
          </a:p>
          <a:p>
            <a:pPr>
              <a:lnSpc>
                <a:spcPct val="150000"/>
              </a:lnSpc>
            </a:pPr>
            <a:r>
              <a:rPr lang="en-US" sz="2050" dirty="0"/>
              <a:t>Analyze order and delivery activity across different delivery zones.</a:t>
            </a:r>
          </a:p>
          <a:p>
            <a:pPr>
              <a:lnSpc>
                <a:spcPct val="150000"/>
              </a:lnSpc>
            </a:pPr>
            <a:r>
              <a:rPr lang="en-US" sz="2050" dirty="0"/>
              <a:t>Compare customer ordering </a:t>
            </a:r>
            <a:r>
              <a:rPr lang="en-US" sz="2050" dirty="0" err="1"/>
              <a:t>behaviour</a:t>
            </a:r>
            <a:r>
              <a:rPr lang="en-US" sz="2050" dirty="0"/>
              <a:t>, service types, and order priorities.</a:t>
            </a:r>
          </a:p>
          <a:p>
            <a:pPr>
              <a:lnSpc>
                <a:spcPct val="150000"/>
              </a:lnSpc>
            </a:pPr>
            <a:r>
              <a:rPr lang="en-US" sz="2050" dirty="0"/>
              <a:t>Identify delivery performance, statuses, and multiple delivery attempts.</a:t>
            </a:r>
          </a:p>
          <a:p>
            <a:pPr>
              <a:lnSpc>
                <a:spcPct val="150000"/>
              </a:lnSpc>
            </a:pPr>
            <a:r>
              <a:rPr lang="en-US" sz="2050" dirty="0"/>
              <a:t>Compare driver performance and vehicle utilization across deliveries.</a:t>
            </a:r>
          </a:p>
          <a:p>
            <a:pPr>
              <a:lnSpc>
                <a:spcPct val="150000"/>
              </a:lnSpc>
            </a:pPr>
            <a:r>
              <a:rPr lang="en-US" sz="2050" dirty="0"/>
              <a:t>Analyze delivery duration, distance travelled, and package weight to identify operational patterns.</a:t>
            </a:r>
          </a:p>
          <a:p>
            <a:pPr>
              <a:lnSpc>
                <a:spcPct val="150000"/>
              </a:lnSpc>
            </a:pPr>
            <a:r>
              <a:rPr lang="en-US" sz="2050" dirty="0"/>
              <a:t>Identify meaningful business insights from delivery data to support operational decision-making.</a:t>
            </a:r>
            <a:endParaRPr lang="en-IN" sz="2050" dirty="0"/>
          </a:p>
        </p:txBody>
      </p:sp>
    </p:spTree>
    <p:extLst>
      <p:ext uri="{BB962C8B-B14F-4D97-AF65-F5344CB8AC3E}">
        <p14:creationId xmlns:p14="http://schemas.microsoft.com/office/powerpoint/2010/main" val="4211968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38065-8190-7C2E-CA8C-6EF251FD1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0328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  <a:latin typeface="+mn-lt"/>
              </a:rPr>
              <a:t>Database Structure: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CE3F4-9F05-327F-F4BC-3EF807C6B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5455"/>
            <a:ext cx="10515600" cy="514608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2300" dirty="0"/>
              <a:t>This project contains 5 interrelated tables: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IN" sz="2300" b="1" dirty="0"/>
              <a:t>Customers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IN" sz="2300" b="1" dirty="0"/>
              <a:t>Orders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IN" sz="2300" b="1" dirty="0"/>
              <a:t>Drivers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IN" sz="2300" b="1" dirty="0"/>
              <a:t>Vehicles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IN" sz="2300" b="1" dirty="0"/>
              <a:t>Deliveries</a:t>
            </a:r>
          </a:p>
          <a:p>
            <a:pPr marL="0" indent="0">
              <a:lnSpc>
                <a:spcPct val="100000"/>
              </a:lnSpc>
              <a:buNone/>
            </a:pPr>
            <a:endParaRPr lang="en-IN" sz="2300" dirty="0"/>
          </a:p>
          <a:p>
            <a:pPr marL="0" indent="0">
              <a:lnSpc>
                <a:spcPct val="100000"/>
              </a:lnSpc>
              <a:buNone/>
            </a:pPr>
            <a:r>
              <a:rPr lang="en-IN" sz="1950" dirty="0"/>
              <a:t>These tables are connected using </a:t>
            </a:r>
            <a:r>
              <a:rPr lang="en-IN" sz="1950" b="1" dirty="0"/>
              <a:t>Primary Keys and Foreign keys </a:t>
            </a:r>
            <a:r>
              <a:rPr lang="en-IN" sz="1950" dirty="0"/>
              <a:t>to maintain relational database  integrity and ensure consistency across customers, orders, drivers, vehicles and deliveries.</a:t>
            </a:r>
          </a:p>
          <a:p>
            <a:pPr marL="0" indent="0">
              <a:buNone/>
            </a:pPr>
            <a:r>
              <a:rPr lang="en-IN" sz="1950" dirty="0"/>
              <a:t>The relationships between the tables help in </a:t>
            </a:r>
            <a:r>
              <a:rPr lang="en-IN" sz="1950" dirty="0" err="1"/>
              <a:t>analyzing</a:t>
            </a:r>
            <a:r>
              <a:rPr lang="en-IN" sz="1950" dirty="0"/>
              <a:t> customers order, delivery details, delivery performance, driver performance, vehicle utilization and delivery problem.</a:t>
            </a:r>
          </a:p>
        </p:txBody>
      </p:sp>
    </p:spTree>
    <p:extLst>
      <p:ext uri="{BB962C8B-B14F-4D97-AF65-F5344CB8AC3E}">
        <p14:creationId xmlns:p14="http://schemas.microsoft.com/office/powerpoint/2010/main" val="203813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C971-435A-0903-0910-A33594648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3864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  <a:latin typeface="+mn-lt"/>
              </a:rPr>
              <a:t>ER DIAGRAM: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278E10-4EDD-A524-1AD3-3F4A9924DB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705" y="1138238"/>
            <a:ext cx="9657347" cy="5354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505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E42BA-7FB7-ADC8-98A0-7505104E3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142"/>
            <a:ext cx="10515600" cy="993058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+mn-lt"/>
              </a:rPr>
              <a:t>Key Analysis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68722-CE4A-C255-4C0D-FD5D3F9DF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6684"/>
            <a:ext cx="10515600" cy="49652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600" b="1" dirty="0"/>
              <a:t>What is the total number of customers?</a:t>
            </a:r>
          </a:p>
          <a:p>
            <a:pPr marL="0" indent="0">
              <a:buNone/>
            </a:pPr>
            <a:r>
              <a:rPr lang="en-IN" sz="1950" dirty="0"/>
              <a:t>SQL Query:</a:t>
            </a:r>
          </a:p>
          <a:p>
            <a:pPr marL="0" indent="0">
              <a:buNone/>
            </a:pPr>
            <a:endParaRPr lang="en-IN" sz="1950" dirty="0"/>
          </a:p>
          <a:p>
            <a:pPr marL="0" indent="0">
              <a:buNone/>
            </a:pPr>
            <a:endParaRPr lang="en-IN" sz="1950" dirty="0"/>
          </a:p>
          <a:p>
            <a:pPr marL="0" indent="0">
              <a:buNone/>
            </a:pPr>
            <a:r>
              <a:rPr lang="en-IN" sz="1950" dirty="0"/>
              <a:t>Output:</a:t>
            </a:r>
          </a:p>
          <a:p>
            <a:pPr marL="0" indent="0">
              <a:buNone/>
            </a:pPr>
            <a:endParaRPr lang="en-IN" sz="1950" dirty="0"/>
          </a:p>
          <a:p>
            <a:pPr marL="0" indent="0">
              <a:buNone/>
            </a:pPr>
            <a:endParaRPr lang="en-IN" sz="1950" dirty="0"/>
          </a:p>
          <a:p>
            <a:pPr marL="0" indent="0">
              <a:buNone/>
            </a:pPr>
            <a:endParaRPr lang="en-IN" sz="1950" dirty="0"/>
          </a:p>
          <a:p>
            <a:pPr lvl="0" fontAlgn="base"/>
            <a:r>
              <a:rPr lang="en-IN" sz="2150" dirty="0"/>
              <a:t>This query counts the total number of customers in the company.</a:t>
            </a:r>
          </a:p>
          <a:p>
            <a:pPr lvl="0" fontAlgn="base"/>
            <a:r>
              <a:rPr lang="en-IN" sz="2150" dirty="0"/>
              <a:t>It helps to measure the overall customers base.</a:t>
            </a:r>
          </a:p>
          <a:p>
            <a:pPr marL="0" indent="0">
              <a:buNone/>
            </a:pPr>
            <a:endParaRPr lang="en-IN" sz="2150" dirty="0"/>
          </a:p>
          <a:p>
            <a:pPr marL="0" indent="0">
              <a:buNone/>
            </a:pPr>
            <a:endParaRPr lang="en-IN" sz="19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197E17-5AC5-A622-1D12-366846C95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97769"/>
            <a:ext cx="5610726" cy="8021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106EC7-EFED-3FAF-2BF4-18489EEE9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675" y="3462766"/>
            <a:ext cx="4886325" cy="80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997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D13A966-1912-BB05-E0BF-F1E712EAC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3615"/>
            <a:ext cx="10515600" cy="227422"/>
          </a:xfrm>
        </p:spPr>
        <p:txBody>
          <a:bodyPr>
            <a:normAutofit fontScale="90000"/>
          </a:bodyPr>
          <a:lstStyle/>
          <a:p>
            <a:r>
              <a:rPr lang="en-IN" dirty="0"/>
              <a:t>.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1D8359E-668E-CA7C-9188-19F59A13A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3616"/>
            <a:ext cx="10515600" cy="57233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What is the total number of orders?</a:t>
            </a:r>
          </a:p>
          <a:p>
            <a:pPr marL="0" indent="0">
              <a:buNone/>
            </a:pPr>
            <a:r>
              <a:rPr lang="en-US" sz="1950" dirty="0"/>
              <a:t>SQL Query:</a:t>
            </a:r>
          </a:p>
          <a:p>
            <a:pPr marL="0" indent="0">
              <a:buNone/>
            </a:pPr>
            <a:endParaRPr lang="en-IN" sz="2600" dirty="0"/>
          </a:p>
          <a:p>
            <a:pPr marL="0" indent="0">
              <a:buNone/>
            </a:pPr>
            <a:endParaRPr lang="en-IN" sz="2600" dirty="0"/>
          </a:p>
          <a:p>
            <a:pPr marL="0" indent="0">
              <a:buNone/>
            </a:pPr>
            <a:r>
              <a:rPr lang="en-IN" sz="1950" dirty="0"/>
              <a:t>Output:</a:t>
            </a:r>
          </a:p>
          <a:p>
            <a:pPr marL="0" indent="0">
              <a:buNone/>
            </a:pPr>
            <a:endParaRPr lang="en-IN" sz="1950" dirty="0"/>
          </a:p>
          <a:p>
            <a:pPr marL="0" indent="0">
              <a:buNone/>
            </a:pPr>
            <a:endParaRPr lang="en-IN" sz="1950" dirty="0"/>
          </a:p>
          <a:p>
            <a:pPr marL="0" indent="0">
              <a:buNone/>
            </a:pPr>
            <a:endParaRPr lang="en-IN" sz="1950" dirty="0"/>
          </a:p>
          <a:p>
            <a:pPr marL="0" indent="0">
              <a:buNone/>
            </a:pPr>
            <a:endParaRPr lang="en-IN" sz="1950" dirty="0"/>
          </a:p>
          <a:p>
            <a:pPr lvl="0" fontAlgn="base"/>
            <a:r>
              <a:rPr lang="en-IN" sz="2150" dirty="0"/>
              <a:t>This query counts the total number of orders.</a:t>
            </a:r>
          </a:p>
          <a:p>
            <a:pPr lvl="0" fontAlgn="base"/>
            <a:r>
              <a:rPr lang="en-IN" sz="2150" dirty="0"/>
              <a:t>It helps to understand the overall order volume.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8B2D4CA-605F-9BD4-98C2-3958A8C5A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59" y="1406013"/>
            <a:ext cx="3676385" cy="58010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9CC94A9-DEBE-4D59-63B2-C5E5E502CE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325" y="2803334"/>
            <a:ext cx="5019675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717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5F921-B035-636F-2545-359C3247F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916" y="186814"/>
            <a:ext cx="10515600" cy="117986"/>
          </a:xfrm>
        </p:spPr>
        <p:txBody>
          <a:bodyPr>
            <a:normAutofit fontScale="90000"/>
          </a:bodyPr>
          <a:lstStyle/>
          <a:p>
            <a:r>
              <a:rPr lang="en-US" dirty="0"/>
              <a:t>  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532B9-73A0-F367-DBC0-4ACC2CDDD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916" y="471948"/>
            <a:ext cx="10586884" cy="57050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What is the total number of deliveries?</a:t>
            </a:r>
          </a:p>
          <a:p>
            <a:pPr marL="0" indent="0">
              <a:buNone/>
            </a:pPr>
            <a:r>
              <a:rPr lang="en-US" sz="1950" dirty="0"/>
              <a:t>SQL Query:</a:t>
            </a:r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r>
              <a:rPr lang="en-US" sz="1950" dirty="0"/>
              <a:t>Output:</a:t>
            </a:r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lvl="0" fontAlgn="base"/>
            <a:r>
              <a:rPr lang="en-IN" sz="2000" dirty="0"/>
              <a:t>This query counts the total number of deliveries.</a:t>
            </a:r>
          </a:p>
          <a:p>
            <a:pPr lvl="0" fontAlgn="base"/>
            <a:r>
              <a:rPr lang="en-IN" sz="2000" dirty="0"/>
              <a:t>It helps to measure the overall delivery activity. </a:t>
            </a:r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IN" sz="19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31D0C9-370D-0012-5FC4-E1F864644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395017"/>
            <a:ext cx="4058265" cy="3271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20102E-B3B8-1EFC-378F-184654A84F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2672239"/>
            <a:ext cx="649605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878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42301-45E0-55BC-2559-38A6C7C26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991"/>
          </a:xfrm>
        </p:spPr>
        <p:txBody>
          <a:bodyPr>
            <a:normAutofit fontScale="90000"/>
          </a:bodyPr>
          <a:lstStyle/>
          <a:p>
            <a:r>
              <a:rPr lang="en-US" dirty="0"/>
              <a:t>  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34725-209A-7CD8-ED2A-5EE4E6B11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0606"/>
            <a:ext cx="10515600" cy="56263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What are the different service type available?</a:t>
            </a:r>
          </a:p>
          <a:p>
            <a:pPr marL="0" indent="0">
              <a:buNone/>
            </a:pPr>
            <a:r>
              <a:rPr lang="en-US" sz="1950" dirty="0"/>
              <a:t>SQL Query:</a:t>
            </a:r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r>
              <a:rPr lang="en-US" sz="1950" dirty="0"/>
              <a:t>Output:</a:t>
            </a:r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r>
              <a:rPr lang="en-US" sz="1950" dirty="0"/>
              <a:t>DISTINCT removes duplicates service types.</a:t>
            </a:r>
          </a:p>
          <a:p>
            <a:r>
              <a:rPr lang="en-US" sz="1950" dirty="0"/>
              <a:t>It helps the company understand the different delivery services offered.</a:t>
            </a:r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IN" sz="19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420093-B584-4E34-0FCE-FBE4BC520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421" y="1504335"/>
            <a:ext cx="3324263" cy="4522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3DF795-B04A-9E4F-4301-CF22979872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421" y="2692272"/>
            <a:ext cx="5610225" cy="124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985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4A860-D43B-FD2D-EB97-F01FFEF6F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75649"/>
          </a:xfrm>
        </p:spPr>
        <p:txBody>
          <a:bodyPr>
            <a:normAutofit fontScale="90000"/>
          </a:bodyPr>
          <a:lstStyle/>
          <a:p>
            <a:r>
              <a:rPr lang="en-US" dirty="0"/>
              <a:t>  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00ECD-3749-7EC4-98AD-4127610C3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0774"/>
            <a:ext cx="10515600" cy="56361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How many drivers are currently active?</a:t>
            </a:r>
          </a:p>
          <a:p>
            <a:pPr marL="0" indent="0">
              <a:buNone/>
            </a:pPr>
            <a:r>
              <a:rPr lang="en-US" sz="1950" dirty="0"/>
              <a:t>SQL Query:</a:t>
            </a:r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r>
              <a:rPr lang="en-US" sz="1950" dirty="0"/>
              <a:t>Output:</a:t>
            </a:r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r>
              <a:rPr lang="en-US" sz="1950" dirty="0"/>
              <a:t>COUNT(*) counts the drivers.</a:t>
            </a:r>
          </a:p>
          <a:p>
            <a:r>
              <a:rPr lang="en-US" sz="1950" dirty="0"/>
              <a:t>WHERE IS_ACTIVE=‘Yes’ selects only active drivers.</a:t>
            </a:r>
          </a:p>
          <a:p>
            <a:r>
              <a:rPr lang="en-US" sz="1950" dirty="0"/>
              <a:t>It helps the company understand the currently available driver workforce.</a:t>
            </a:r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IN" sz="19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3A9F9E-4CFF-EC84-4F5A-75351EBC1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306" y="1524000"/>
            <a:ext cx="3665326" cy="6584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607CDD-9DD2-47D9-F986-453889F1A4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306" y="3084102"/>
            <a:ext cx="5572125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900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64894-548D-9A5B-1D6B-648E1CDB6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0774"/>
            <a:ext cx="10515600" cy="56361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What are the different vehicle types?</a:t>
            </a:r>
          </a:p>
          <a:p>
            <a:pPr marL="0" indent="0">
              <a:buNone/>
            </a:pPr>
            <a:r>
              <a:rPr lang="en-US" sz="1950" dirty="0"/>
              <a:t>SQL Query:</a:t>
            </a:r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r>
              <a:rPr lang="en-US" sz="1950" dirty="0"/>
              <a:t>Output:</a:t>
            </a:r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r>
              <a:rPr lang="en-US" sz="1950" dirty="0"/>
              <a:t>This query displays the unique vehicle types.</a:t>
            </a:r>
          </a:p>
          <a:p>
            <a:r>
              <a:rPr lang="en-US" sz="1950" dirty="0"/>
              <a:t>It helps understand the types of vehicles available in the delivery fleet.</a:t>
            </a:r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IN" sz="19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AE6294-6AE3-35D9-B5D3-4767B1EF8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000" y="1356852"/>
            <a:ext cx="3585310" cy="6292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4C45EE-7DEF-D0EB-D225-3B195C705D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000" y="2663543"/>
            <a:ext cx="5648325" cy="139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881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F0337-D451-4490-3167-576364037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0271"/>
            <a:ext cx="10515600" cy="56066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What is the total order value?</a:t>
            </a:r>
          </a:p>
          <a:p>
            <a:pPr marL="0" indent="0">
              <a:buNone/>
            </a:pPr>
            <a:r>
              <a:rPr lang="en-US" sz="1950" dirty="0"/>
              <a:t>SQL Query:</a:t>
            </a:r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r>
              <a:rPr lang="en-US" sz="1950" dirty="0"/>
              <a:t>Output:</a:t>
            </a:r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r>
              <a:rPr lang="en-US" sz="1950" dirty="0"/>
              <a:t>SUM() adds the value of all orders.</a:t>
            </a:r>
          </a:p>
          <a:p>
            <a:r>
              <a:rPr lang="en-US" sz="1950" dirty="0"/>
              <a:t>It helps measure the total value generated from customer orders.</a:t>
            </a:r>
          </a:p>
          <a:p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IN" sz="19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F2FCBC-369E-7FAA-9403-75E969E57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305" y="1504335"/>
            <a:ext cx="3321198" cy="5309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CC9291-D967-2055-67A4-38C997AAAF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305" y="2704024"/>
            <a:ext cx="6219825" cy="92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23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B83DD-2564-2D74-F92C-17619C13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205146"/>
          </a:xfrm>
        </p:spPr>
        <p:txBody>
          <a:bodyPr>
            <a:normAutofit fontScale="90000"/>
          </a:bodyPr>
          <a:lstStyle/>
          <a:p>
            <a:r>
              <a:rPr lang="en-US" dirty="0"/>
              <a:t> 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F020F-BF4D-573A-88EB-C2732CEDE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0272"/>
            <a:ext cx="10515600" cy="560669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600" dirty="0"/>
              <a:t>What is the average package weight?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950" dirty="0"/>
              <a:t>SQL Query: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950" dirty="0"/>
          </a:p>
          <a:p>
            <a:pPr marL="0" indent="0">
              <a:lnSpc>
                <a:spcPct val="100000"/>
              </a:lnSpc>
              <a:buNone/>
            </a:pPr>
            <a:endParaRPr lang="en-US" sz="1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950" dirty="0"/>
              <a:t>Output: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950" dirty="0"/>
          </a:p>
          <a:p>
            <a:pPr marL="0" indent="0">
              <a:lnSpc>
                <a:spcPct val="100000"/>
              </a:lnSpc>
              <a:buNone/>
            </a:pPr>
            <a:endParaRPr lang="en-US" sz="1950" dirty="0"/>
          </a:p>
          <a:p>
            <a:pPr marL="0" indent="0">
              <a:lnSpc>
                <a:spcPct val="100000"/>
              </a:lnSpc>
              <a:buNone/>
            </a:pPr>
            <a:endParaRPr lang="en-US" sz="1950" dirty="0"/>
          </a:p>
          <a:p>
            <a:pPr>
              <a:lnSpc>
                <a:spcPct val="100000"/>
              </a:lnSpc>
            </a:pPr>
            <a:r>
              <a:rPr lang="en-US" sz="1950" dirty="0"/>
              <a:t>AVG() calculates the average package weight.</a:t>
            </a:r>
          </a:p>
          <a:p>
            <a:pPr>
              <a:lnSpc>
                <a:spcPct val="100000"/>
              </a:lnSpc>
            </a:pPr>
            <a:r>
              <a:rPr lang="en-US" sz="1950" dirty="0"/>
              <a:t>It helps understand the typical weight of package handled by the delivery operation.</a:t>
            </a:r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IN" sz="19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9CF78E-6060-43B6-BC71-0BC5A2412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643" y="1494503"/>
            <a:ext cx="4625718" cy="5699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392C71-59DE-26BB-94FA-5D89A0A34F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525" y="2791954"/>
            <a:ext cx="4943475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0847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DAE36-EAA2-CE34-9F99-DBB4BD92D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2452"/>
            <a:ext cx="10515600" cy="59386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Which delivery zones have the highest number of orders?</a:t>
            </a:r>
          </a:p>
          <a:p>
            <a:pPr marL="0" indent="0">
              <a:buNone/>
            </a:pPr>
            <a:r>
              <a:rPr lang="en-US" sz="1950" dirty="0"/>
              <a:t>SQL Query:</a:t>
            </a:r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r>
              <a:rPr lang="en-US" sz="1950" dirty="0"/>
              <a:t>Output:</a:t>
            </a:r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r>
              <a:rPr lang="en-US" sz="1950" dirty="0"/>
              <a:t>This query counts the numbers of orders generated in each delivery zone.</a:t>
            </a:r>
          </a:p>
          <a:p>
            <a:r>
              <a:rPr lang="en-US" sz="1950" dirty="0"/>
              <a:t>It helps identify high-demand delivery zones when more delivery resources may be required.</a:t>
            </a:r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IN" sz="19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8B6CDE-2D0C-F559-E6BF-6C40982F0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659" y="1317523"/>
            <a:ext cx="4108417" cy="8947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14D9F6-66AE-4339-1B36-C4EAFE06F7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659" y="2925557"/>
            <a:ext cx="5581650" cy="140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0204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AA096-2683-F9C4-07D3-9EF6CD74B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1445"/>
            <a:ext cx="10515600" cy="567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How does order volume change over time?</a:t>
            </a:r>
          </a:p>
          <a:p>
            <a:pPr marL="0" indent="0">
              <a:buNone/>
            </a:pPr>
            <a:r>
              <a:rPr lang="en-US" sz="1950" dirty="0"/>
              <a:t>SQL Query:</a:t>
            </a:r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r>
              <a:rPr lang="en-US" sz="1950" dirty="0"/>
              <a:t>Output:</a:t>
            </a:r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r>
              <a:rPr lang="en-US" sz="1950" dirty="0"/>
              <a:t>This query counts the number of orders received on each date.</a:t>
            </a:r>
          </a:p>
          <a:p>
            <a:r>
              <a:rPr lang="en-US" sz="1950" dirty="0"/>
              <a:t>It helps identify changes and patterns in order demand over time.</a:t>
            </a:r>
          </a:p>
          <a:p>
            <a:pPr marL="0" indent="0">
              <a:buNone/>
            </a:pPr>
            <a:endParaRPr lang="en-IN" sz="19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2CE20C-603A-6956-342B-45E26ABD4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730" y="1386349"/>
            <a:ext cx="3818353" cy="9053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7E27CD-995E-AD5C-A75E-8DE214F3E9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497" y="2966115"/>
            <a:ext cx="6296025" cy="138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1249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47D96-EC99-F4B5-47E6-4B770B20C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8929"/>
            <a:ext cx="10515600" cy="55280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Which customers have highest total order value?</a:t>
            </a:r>
          </a:p>
          <a:p>
            <a:pPr marL="0" indent="0">
              <a:buNone/>
            </a:pPr>
            <a:r>
              <a:rPr lang="en-US" sz="1950" dirty="0"/>
              <a:t>SQL Query:</a:t>
            </a:r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r>
              <a:rPr lang="en-US" sz="1950" dirty="0"/>
              <a:t>Output:</a:t>
            </a:r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r>
              <a:rPr lang="en-US" sz="1950" dirty="0"/>
              <a:t>This query calculates the total value of orders placed by each customer.</a:t>
            </a:r>
          </a:p>
          <a:p>
            <a:r>
              <a:rPr lang="en-US" sz="1950" dirty="0"/>
              <a:t>It helps identify customers who contribute higher order value to the business.</a:t>
            </a:r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IN" sz="19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9F25B3-1E66-EFC2-1271-4E81E0672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510" y="1680851"/>
            <a:ext cx="4231200" cy="8357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341847-C2F2-0F04-FDC3-8488BCD7FE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1510" y="3195482"/>
            <a:ext cx="6210300" cy="146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446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32235-C8C3-D45C-FD2D-EE96B0FC8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0774"/>
            <a:ext cx="10515600" cy="56361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How does customer ordering activity differ between business and individual customers?</a:t>
            </a:r>
          </a:p>
          <a:p>
            <a:pPr marL="0" indent="0">
              <a:buNone/>
            </a:pPr>
            <a:r>
              <a:rPr lang="en-US" sz="1950" dirty="0"/>
              <a:t>SQL Query:</a:t>
            </a:r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r>
              <a:rPr lang="en-US" sz="1950" dirty="0"/>
              <a:t>Output:</a:t>
            </a:r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r>
              <a:rPr lang="en-US" sz="1950" dirty="0"/>
              <a:t>This query connects customers with their orders using CUSTOMER_ID.</a:t>
            </a:r>
          </a:p>
          <a:p>
            <a:r>
              <a:rPr lang="en-US" sz="1950" dirty="0"/>
              <a:t>It compares the number of orders placed by business and individual customers.</a:t>
            </a:r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IN" sz="19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CAF7A1-25D0-4259-A2B5-86325623A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808" y="1858296"/>
            <a:ext cx="4206739" cy="9488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28F9E6-32E3-BA7F-9332-B4BAA3421A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808" y="3358868"/>
            <a:ext cx="4876800" cy="108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6567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EC400-490A-1CB0-38D2-14E8E45D9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9935"/>
            <a:ext cx="10515600" cy="55870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What are the different delivery statuses and how many deliveries have each status?</a:t>
            </a:r>
          </a:p>
          <a:p>
            <a:pPr marL="0" indent="0">
              <a:buNone/>
            </a:pPr>
            <a:r>
              <a:rPr lang="en-US" sz="1950" dirty="0"/>
              <a:t>SQL Query:</a:t>
            </a:r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r>
              <a:rPr lang="en-US" sz="1950" dirty="0"/>
              <a:t>Output:</a:t>
            </a:r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r>
              <a:rPr lang="en-US" sz="1950" dirty="0"/>
              <a:t>This query counts deliveries according to their status.</a:t>
            </a:r>
          </a:p>
          <a:p>
            <a:r>
              <a:rPr lang="en-US" sz="1950" dirty="0"/>
              <a:t>It helps identify the most common delivery outcomes such as delivered, failed, pending or rescheduled.</a:t>
            </a:r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IN" sz="19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225003-65B2-DC9B-8E4A-3DFF502DB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408" y="1887794"/>
            <a:ext cx="4258965" cy="8016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CCC185-5046-5491-3D10-4A296C03EA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314" y="3429000"/>
            <a:ext cx="4943475" cy="122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133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3D23A-CD32-C0A3-9085-FED7486A9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0942"/>
            <a:ext cx="10515600" cy="56460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Which delivery zone have highest delivery activity?</a:t>
            </a:r>
          </a:p>
          <a:p>
            <a:pPr marL="0" indent="0">
              <a:buNone/>
            </a:pPr>
            <a:r>
              <a:rPr lang="en-US" sz="1950" dirty="0"/>
              <a:t>SQL Query:</a:t>
            </a:r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r>
              <a:rPr lang="en-US" sz="1950" dirty="0"/>
              <a:t>Output:</a:t>
            </a:r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r>
              <a:rPr lang="en-US" sz="1950" dirty="0"/>
              <a:t>This query connects orders and deliveries using ORDER_ID.</a:t>
            </a:r>
          </a:p>
          <a:p>
            <a:r>
              <a:rPr lang="en-US" sz="1950" dirty="0"/>
              <a:t>It helps identify high-activity delivery zones. </a:t>
            </a:r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IN" sz="19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874C29-09A6-E7C5-1FC6-65DC3A220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104" y="1386349"/>
            <a:ext cx="5306141" cy="11211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2D254A-1AD6-68CB-53C2-71E4E2B255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104" y="3010228"/>
            <a:ext cx="5191125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4719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5020F-6254-BC4B-B4DA-976E50798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1277"/>
            <a:ext cx="10515600" cy="56656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Which delivery zones have more failed deliveries?</a:t>
            </a:r>
          </a:p>
          <a:p>
            <a:pPr marL="0" indent="0">
              <a:buNone/>
            </a:pPr>
            <a:r>
              <a:rPr lang="en-US" sz="1950" dirty="0"/>
              <a:t>SQL Query:</a:t>
            </a:r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r>
              <a:rPr lang="en-US" sz="1950" dirty="0"/>
              <a:t>Output:</a:t>
            </a:r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r>
              <a:rPr lang="en-US" sz="1950" dirty="0"/>
              <a:t>This query identifies failed deliveries in each delivery zone.</a:t>
            </a:r>
          </a:p>
          <a:p>
            <a:r>
              <a:rPr lang="en-US" sz="1950" dirty="0"/>
              <a:t>It helps the operations team identify zones with poorer delivery outcomes.</a:t>
            </a:r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IN" sz="19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2CD672-A9C4-09EA-BFC4-D33573C8A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349" y="1474839"/>
            <a:ext cx="5240594" cy="12950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6E9A66-8408-29D2-7C81-8CDEC7CB93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582" y="3344120"/>
            <a:ext cx="5114925" cy="139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9008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BE61F-969C-783A-1871-FF91927F6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0439"/>
            <a:ext cx="10515600" cy="58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How many deliveries were handled by each vehicle type?</a:t>
            </a:r>
          </a:p>
          <a:p>
            <a:pPr marL="0" indent="0">
              <a:buNone/>
            </a:pPr>
            <a:r>
              <a:rPr lang="en-US" sz="1950" dirty="0"/>
              <a:t>SQL Query:</a:t>
            </a:r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r>
              <a:rPr lang="en-US" sz="1950" dirty="0"/>
              <a:t>Output:</a:t>
            </a:r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r>
              <a:rPr lang="en-US" sz="1950" dirty="0"/>
              <a:t>This queries connects vehicles with their deliveries.</a:t>
            </a:r>
          </a:p>
          <a:p>
            <a:r>
              <a:rPr lang="en-US" sz="1950" dirty="0"/>
              <a:t>It helps identify which vehicle types are used most frequently.</a:t>
            </a:r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IN" sz="19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FBE34A-790C-8C86-37BB-D6EA1EC8E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189" y="1445342"/>
            <a:ext cx="5262256" cy="12290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707C1A-FE58-CD2E-1571-9229D08C88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2896" y="3368701"/>
            <a:ext cx="5743575" cy="139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4156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1D338-10BE-F6AD-6B77-F107576BE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0942"/>
            <a:ext cx="10515600" cy="55748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What is the delivery performance of each vehicle?</a:t>
            </a:r>
          </a:p>
          <a:p>
            <a:pPr marL="0" indent="0">
              <a:buNone/>
            </a:pPr>
            <a:r>
              <a:rPr lang="en-US" sz="1950" dirty="0"/>
              <a:t>SQL Query:</a:t>
            </a:r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r>
              <a:rPr lang="en-US" sz="1950" dirty="0"/>
              <a:t>Output:</a:t>
            </a:r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r>
              <a:rPr lang="en-US" sz="1950" dirty="0"/>
              <a:t>Compares the number of deliveries and average delivery time for each vehicle.</a:t>
            </a:r>
          </a:p>
          <a:p>
            <a:r>
              <a:rPr lang="en-US" sz="1950" dirty="0"/>
              <a:t>Helps evaluate vehicle utilization and delivery efficiency.</a:t>
            </a:r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IN" sz="19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8BB682-F3E9-29BA-4C27-08F7E0CBF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624" y="1317523"/>
            <a:ext cx="8183182" cy="11500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88BB62-395D-A636-F9C9-F356EF44A1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873" y="2929726"/>
            <a:ext cx="6076950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0244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91E9F-239F-B9FF-3D1D-42B8D2484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0606"/>
            <a:ext cx="10515600" cy="56263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Which deliveries required multiple attempts?</a:t>
            </a:r>
          </a:p>
          <a:p>
            <a:pPr marL="0" indent="0">
              <a:buNone/>
            </a:pPr>
            <a:r>
              <a:rPr lang="en-US" sz="1950" dirty="0"/>
              <a:t>SQL Query:</a:t>
            </a:r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r>
              <a:rPr lang="en-US" sz="1950" dirty="0"/>
              <a:t>Output:</a:t>
            </a:r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r>
              <a:rPr lang="en-US" sz="1950" dirty="0"/>
              <a:t>Identifies deliveries that needed multiple </a:t>
            </a:r>
            <a:r>
              <a:rPr lang="en-US" sz="1950" dirty="0" err="1"/>
              <a:t>attemts</a:t>
            </a:r>
            <a:r>
              <a:rPr lang="en-US" sz="1950" dirty="0"/>
              <a:t>.</a:t>
            </a:r>
          </a:p>
          <a:p>
            <a:r>
              <a:rPr lang="en-US" sz="1950" dirty="0"/>
              <a:t>Helps analyze problematic delivery cases.</a:t>
            </a:r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IN" sz="19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83F60D-7714-1AB5-A3D4-57D5DC0AF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841" y="1514168"/>
            <a:ext cx="4917114" cy="7996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6A4890-0EF6-586E-1880-A7E2BA983C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111" y="3096940"/>
            <a:ext cx="7553325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7429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AB692-B202-E297-CD55-1920021A5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2284"/>
            <a:ext cx="10515600" cy="57246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Which delivery zones have the most multiple-attempt deliveries?</a:t>
            </a:r>
          </a:p>
          <a:p>
            <a:pPr marL="0" indent="0">
              <a:buNone/>
            </a:pPr>
            <a:r>
              <a:rPr lang="en-US" sz="1950" dirty="0"/>
              <a:t>SQL Query:</a:t>
            </a:r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r>
              <a:rPr lang="en-US" sz="1950" dirty="0"/>
              <a:t>Output:</a:t>
            </a:r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r>
              <a:rPr lang="en-US" sz="1950" dirty="0"/>
              <a:t>Identifies zones with more multiple-attempt deliveries.</a:t>
            </a:r>
          </a:p>
          <a:p>
            <a:r>
              <a:rPr lang="en-US" sz="1950" dirty="0"/>
              <a:t>Helps locate areas with higher delivery problems.</a:t>
            </a:r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endParaRPr lang="en-IN" sz="1950" dirty="0"/>
          </a:p>
          <a:p>
            <a:pPr marL="0" indent="0">
              <a:buNone/>
            </a:pPr>
            <a:endParaRPr lang="en-US" sz="19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0C0B35-06BD-D8BE-0917-E1FDB748A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782" y="1435509"/>
            <a:ext cx="6174231" cy="13103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B8EEA9-2C63-84CF-2400-936AB30D3F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720" y="3225903"/>
            <a:ext cx="4953000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3391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A8A03-C43F-FA8C-4C66-547A856DD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252" y="365125"/>
            <a:ext cx="10606548" cy="618101"/>
          </a:xfrm>
        </p:spPr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sz="3600" b="1" dirty="0">
                <a:solidFill>
                  <a:srgbClr val="C00000"/>
                </a:solidFill>
                <a:latin typeface="+mn-lt"/>
              </a:rPr>
              <a:t>KEY INSIGHTS &amp; FINDINGS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44DD4-2E59-4FCA-DA37-26DFC7F37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0542"/>
            <a:ext cx="10515600" cy="503642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300" dirty="0"/>
              <a:t>Analyzed delivery demand across zones, services, and priorities.</a:t>
            </a:r>
          </a:p>
          <a:p>
            <a:pPr>
              <a:lnSpc>
                <a:spcPct val="150000"/>
              </a:lnSpc>
            </a:pPr>
            <a:r>
              <a:rPr lang="en-US" sz="2300" dirty="0"/>
              <a:t>Identified customer ordering and order-value patterns.</a:t>
            </a:r>
          </a:p>
          <a:p>
            <a:pPr>
              <a:lnSpc>
                <a:spcPct val="150000"/>
              </a:lnSpc>
            </a:pPr>
            <a:r>
              <a:rPr lang="en-US" sz="2300" dirty="0"/>
              <a:t>Evaluated delivery performance and delivery outcomes.</a:t>
            </a:r>
          </a:p>
          <a:p>
            <a:pPr>
              <a:lnSpc>
                <a:spcPct val="150000"/>
              </a:lnSpc>
            </a:pPr>
            <a:r>
              <a:rPr lang="en-US" sz="2300" dirty="0"/>
              <a:t>Compared driver workload and vehicle utilization.</a:t>
            </a:r>
          </a:p>
          <a:p>
            <a:pPr>
              <a:lnSpc>
                <a:spcPct val="150000"/>
              </a:lnSpc>
            </a:pPr>
            <a:r>
              <a:rPr lang="en-US" sz="2300" dirty="0"/>
              <a:t>Identified multiple-attempt and failed deliveries.</a:t>
            </a:r>
          </a:p>
          <a:p>
            <a:pPr>
              <a:lnSpc>
                <a:spcPct val="150000"/>
              </a:lnSpc>
            </a:pPr>
            <a:r>
              <a:rPr lang="en-US" sz="2300" dirty="0"/>
              <a:t>Highlighted areas requiring operational improvement.</a:t>
            </a:r>
            <a:endParaRPr lang="en-IN" sz="2300" dirty="0"/>
          </a:p>
        </p:txBody>
      </p:sp>
    </p:spTree>
    <p:extLst>
      <p:ext uri="{BB962C8B-B14F-4D97-AF65-F5344CB8AC3E}">
        <p14:creationId xmlns:p14="http://schemas.microsoft.com/office/powerpoint/2010/main" val="682034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BE0E9-2083-5E9F-1128-B3B67981A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6927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+mn-lt"/>
              </a:rPr>
              <a:t>CHALLENGES/EXPERIENCES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BA155-25B6-9456-D2FD-A89FFAC67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0374"/>
            <a:ext cx="10515600" cy="5026589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300" b="1" dirty="0"/>
              <a:t>Challenges:</a:t>
            </a:r>
          </a:p>
          <a:p>
            <a:pPr>
              <a:lnSpc>
                <a:spcPct val="100000"/>
              </a:lnSpc>
            </a:pPr>
            <a:r>
              <a:rPr lang="en-US" sz="2300" dirty="0"/>
              <a:t>Understanding ER diagram and table relationships.</a:t>
            </a:r>
          </a:p>
          <a:p>
            <a:pPr>
              <a:lnSpc>
                <a:spcPct val="100000"/>
              </a:lnSpc>
            </a:pPr>
            <a:r>
              <a:rPr lang="en-US" sz="2300" dirty="0"/>
              <a:t>Converting business problems into SQL queries.</a:t>
            </a:r>
          </a:p>
          <a:p>
            <a:pPr>
              <a:lnSpc>
                <a:spcPct val="100000"/>
              </a:lnSpc>
            </a:pPr>
            <a:r>
              <a:rPr lang="en-US" sz="2300" dirty="0"/>
              <a:t>Handling JOINs and aggregate functions.</a:t>
            </a:r>
          </a:p>
          <a:p>
            <a:pPr>
              <a:lnSpc>
                <a:spcPct val="100000"/>
              </a:lnSpc>
            </a:pPr>
            <a:r>
              <a:rPr lang="en-US" sz="2300" dirty="0"/>
              <a:t>Analyzing large datasets and interpreting results.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300" b="1" dirty="0"/>
              <a:t>Experiences:</a:t>
            </a:r>
          </a:p>
          <a:p>
            <a:pPr>
              <a:lnSpc>
                <a:spcPct val="100000"/>
              </a:lnSpc>
            </a:pPr>
            <a:r>
              <a:rPr lang="en-US" sz="2300" dirty="0"/>
              <a:t>Gained practical MySQL experience.</a:t>
            </a:r>
          </a:p>
          <a:p>
            <a:pPr>
              <a:lnSpc>
                <a:spcPct val="100000"/>
              </a:lnSpc>
            </a:pPr>
            <a:r>
              <a:rPr lang="en-US" sz="2300" dirty="0"/>
              <a:t>Improved SQL and analytical skills.</a:t>
            </a:r>
          </a:p>
          <a:p>
            <a:pPr>
              <a:lnSpc>
                <a:spcPct val="100000"/>
              </a:lnSpc>
            </a:pPr>
            <a:r>
              <a:rPr lang="en-US" sz="2300" dirty="0"/>
              <a:t>Learned to derive business insights from data.</a:t>
            </a:r>
          </a:p>
          <a:p>
            <a:pPr>
              <a:lnSpc>
                <a:spcPct val="100000"/>
              </a:lnSpc>
            </a:pPr>
            <a:r>
              <a:rPr lang="en-US" sz="2300" dirty="0"/>
              <a:t>Developed better problem-solving and decision-making skills.</a:t>
            </a:r>
            <a:endParaRPr lang="en-IN" sz="2300" dirty="0"/>
          </a:p>
        </p:txBody>
      </p:sp>
    </p:spTree>
    <p:extLst>
      <p:ext uri="{BB962C8B-B14F-4D97-AF65-F5344CB8AC3E}">
        <p14:creationId xmlns:p14="http://schemas.microsoft.com/office/powerpoint/2010/main" val="15745668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92220-E6A1-E38D-4BDD-DAB772880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4914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+mn-lt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03E65-584C-81A2-FC73-AA6925D58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0040"/>
            <a:ext cx="10515600" cy="503411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300" dirty="0"/>
              <a:t>Successfully developed a relational last-mile delivery database using interconnected tables.</a:t>
            </a:r>
          </a:p>
          <a:p>
            <a:pPr>
              <a:lnSpc>
                <a:spcPct val="100000"/>
              </a:lnSpc>
            </a:pPr>
            <a:r>
              <a:rPr lang="en-US" sz="2300" dirty="0"/>
              <a:t>Gained practical knowledge of Primary Keys and Foreign Keys.</a:t>
            </a:r>
          </a:p>
          <a:p>
            <a:pPr>
              <a:lnSpc>
                <a:spcPct val="100000"/>
              </a:lnSpc>
            </a:pPr>
            <a:r>
              <a:rPr lang="en-US" sz="2300" dirty="0"/>
              <a:t>Gained experience in delivery data analysis and data interpretation.</a:t>
            </a:r>
          </a:p>
          <a:p>
            <a:pPr>
              <a:lnSpc>
                <a:spcPct val="100000"/>
              </a:lnSpc>
            </a:pPr>
            <a:r>
              <a:rPr lang="en-US" sz="2300" dirty="0"/>
              <a:t>Learned to analyze delivery data using GROUP BY, Subqueries, CASE statements, and aggregate functions.</a:t>
            </a:r>
          </a:p>
          <a:p>
            <a:pPr>
              <a:lnSpc>
                <a:spcPct val="100000"/>
              </a:lnSpc>
            </a:pPr>
            <a:r>
              <a:rPr lang="en-US" sz="2300" dirty="0"/>
              <a:t>Improved skills in writing JOIN and aggregate SQL queries.</a:t>
            </a:r>
          </a:p>
          <a:p>
            <a:pPr>
              <a:lnSpc>
                <a:spcPct val="100000"/>
              </a:lnSpc>
            </a:pPr>
            <a:r>
              <a:rPr lang="en-US" sz="2300" dirty="0"/>
              <a:t>Gained practical experience in analyzing delivery demand, customer </a:t>
            </a:r>
            <a:r>
              <a:rPr lang="en-US" sz="2300" dirty="0" err="1"/>
              <a:t>behaviour</a:t>
            </a:r>
            <a:r>
              <a:rPr lang="en-US" sz="2300" dirty="0"/>
              <a:t>, delivery performance, and resource utilization.</a:t>
            </a:r>
          </a:p>
          <a:p>
            <a:pPr>
              <a:lnSpc>
                <a:spcPct val="100000"/>
              </a:lnSpc>
            </a:pPr>
            <a:r>
              <a:rPr lang="en-US" sz="2300" dirty="0"/>
              <a:t>Overall, this project helped strengthen MySQL, database management, data analysis, and analytical thinking skills.</a:t>
            </a:r>
            <a:endParaRPr lang="en-IN" sz="2300" dirty="0"/>
          </a:p>
        </p:txBody>
      </p:sp>
    </p:spTree>
    <p:extLst>
      <p:ext uri="{BB962C8B-B14F-4D97-AF65-F5344CB8AC3E}">
        <p14:creationId xmlns:p14="http://schemas.microsoft.com/office/powerpoint/2010/main" val="5964742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7AD6D-DF28-659D-BB96-9D1451F8C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3626"/>
            <a:ext cx="10515600" cy="6056671"/>
          </a:xfrm>
        </p:spPr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IN" sz="4400" dirty="0">
                <a:solidFill>
                  <a:srgbClr val="C00000"/>
                </a:solidFill>
              </a:rPr>
              <a:t>            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FBFF49-DF1E-FA11-49CF-E1CC097B61F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449224" y="2011997"/>
            <a:ext cx="4465320" cy="2834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939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639</TotalTime>
  <Words>1271</Words>
  <Application>Microsoft Office PowerPoint</Application>
  <PresentationFormat>Widescreen</PresentationFormat>
  <Paragraphs>325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Office Theme</vt:lpstr>
      <vt:lpstr>PowerPoint Presentation</vt:lpstr>
      <vt:lpstr>ABOUT ME</vt:lpstr>
      <vt:lpstr>AGENDA</vt:lpstr>
      <vt:lpstr>Project Overview:</vt:lpstr>
      <vt:lpstr>Project Objective:</vt:lpstr>
      <vt:lpstr>Database Structure:</vt:lpstr>
      <vt:lpstr>ER DIAGRAM:</vt:lpstr>
      <vt:lpstr>Key Analysis Questions</vt:lpstr>
      <vt:lpstr>.</vt:lpstr>
      <vt:lpstr>   </vt:lpstr>
      <vt:lpstr>   </vt:lpstr>
      <vt:lpstr>   </vt:lpstr>
      <vt:lpstr>PowerPoint Presentation</vt:lpstr>
      <vt:lpstr>PowerPoint Presentation</vt:lpstr>
      <vt:lpstr>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KEY INSIGHTS &amp; FINDINGS </vt:lpstr>
      <vt:lpstr>CHALLENGES/EXPERIENCES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yamini vangapandu</dc:creator>
  <cp:lastModifiedBy>yamini vangapandu</cp:lastModifiedBy>
  <cp:revision>2</cp:revision>
  <dcterms:created xsi:type="dcterms:W3CDTF">2026-09-14T14:18:17Z</dcterms:created>
  <dcterms:modified xsi:type="dcterms:W3CDTF">2026-09-15T16:51:53Z</dcterms:modified>
</cp:coreProperties>
</file>